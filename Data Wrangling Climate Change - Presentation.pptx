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79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4695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C4B43-C59A-87EE-E33A-1AB6DDC93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5B1C12-3CF2-9BCE-FB67-3990C851E3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C2CEA5-E337-F227-8C17-0597EF4EDA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53E041-4984-033A-E051-CD7892AAE6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6993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13F55-FA47-E384-A5A5-2B28E2DF5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813E2B-B94E-42C2-FABD-75DBAC54FA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4ECD96-7354-ED20-A06E-1503FA8BD1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EC7EBF-D7BA-FA3C-5AF6-147307B82F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4902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718C87-4953-B8BB-D400-52E0A2AF8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A82A60-23F7-3FDE-97EF-CA50D3BE7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64EACC-5808-2CE5-9BC6-14D87FCE5F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5F197B-0BB7-B08A-3CD2-676390660C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1951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Energy, Population &amp;</a:t>
            </a:r>
            <a:endParaRPr lang="en-US" sz="3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Temperature Data Analysis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how energy consumption impacts temperature changes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countries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931920"/>
            <a:ext cx="1097280" cy="36576"/>
          </a:xfrm>
          <a:prstGeom prst="rect">
            <a:avLst/>
          </a:prstGeom>
          <a:solidFill>
            <a:srgbClr val="E8960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73152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Project  |  Data Analytics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data was gathered?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this project we have chosen the following: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1508760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640080" y="1508760"/>
            <a:ext cx="2468880" cy="54864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822960" y="1737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csv and JSON files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2960" y="2194560"/>
            <a:ext cx="21031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called energy-use-per-person extracted from https://ourworldindata.org/energy.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37560" y="1508760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1"/>
          <p:cNvSpPr/>
          <p:nvPr/>
        </p:nvSpPr>
        <p:spPr>
          <a:xfrm>
            <a:off x="3337560" y="1508760"/>
            <a:ext cx="2468880" cy="54864"/>
          </a:xfrm>
          <a:prstGeom prst="rect">
            <a:avLst/>
          </a:prstGeom>
          <a:solidFill>
            <a:srgbClr val="E8960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/>
          <p:nvPr/>
        </p:nvSpPr>
        <p:spPr>
          <a:xfrm>
            <a:off x="3520440" y="1737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web API (Direct)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20440" y="2194560"/>
            <a:ext cx="21031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data was retrieved directly from the World Bank website https://data.worldbank.org/indicator/SP.POP.TOTLAPI using the pandas_datareader.wb module.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35040" y="1508760"/>
            <a:ext cx="24688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Shape 15"/>
          <p:cNvSpPr/>
          <p:nvPr/>
        </p:nvSpPr>
        <p:spPr>
          <a:xfrm>
            <a:off x="6035040" y="1508760"/>
            <a:ext cx="2468880" cy="54864"/>
          </a:xfrm>
          <a:prstGeom prst="rect">
            <a:avLst/>
          </a:prstGeom>
          <a:solidFill>
            <a:srgbClr val="5B6AB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6"/>
          <p:cNvSpPr/>
          <p:nvPr/>
        </p:nvSpPr>
        <p:spPr>
          <a:xfrm>
            <a:off x="6217920" y="1737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Kaggle API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17920" y="2194560"/>
            <a:ext cx="21031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temperature dataset was programmatically downloaded from Kaggle using the Kaggle.api.datase_download_files command.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extraction.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40080" y="1051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dataset are in three different formats: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41732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data as: csv file extracted from a ZIP folder as per the below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data extracted from the World Bank API as per below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data extracted from Kaggle ZIP csv file.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those files, we have combined three different datasets to study and extract how energy consumption has impacted the temperature changes across different countries.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process was followed as: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5"/>
          <p:cNvSpPr/>
          <p:nvPr/>
        </p:nvSpPr>
        <p:spPr>
          <a:xfrm>
            <a:off x="640080" y="1371600"/>
            <a:ext cx="1828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6"/>
          <p:cNvSpPr/>
          <p:nvPr/>
        </p:nvSpPr>
        <p:spPr>
          <a:xfrm>
            <a:off x="749808" y="1481328"/>
            <a:ext cx="320040" cy="32004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7"/>
          <p:cNvSpPr/>
          <p:nvPr/>
        </p:nvSpPr>
        <p:spPr>
          <a:xfrm>
            <a:off x="749808" y="1481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14300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Collecting data from multiple sources (CSV, API, Kaggle)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651760" y="1371600"/>
            <a:ext cx="1828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0"/>
          <p:cNvSpPr/>
          <p:nvPr/>
        </p:nvSpPr>
        <p:spPr>
          <a:xfrm>
            <a:off x="2761488" y="1481328"/>
            <a:ext cx="320040" cy="320040"/>
          </a:xfrm>
          <a:prstGeom prst="ellipse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2761488" y="1481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15468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663440" y="1371600"/>
            <a:ext cx="1828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Shape 14"/>
          <p:cNvSpPr/>
          <p:nvPr/>
        </p:nvSpPr>
        <p:spPr>
          <a:xfrm>
            <a:off x="4773168" y="1481328"/>
            <a:ext cx="320040" cy="320040"/>
          </a:xfrm>
          <a:prstGeom prst="ellipse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4773168" y="1481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16636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integration and feature engineering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675120" y="1371600"/>
            <a:ext cx="1828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Shape 18"/>
          <p:cNvSpPr/>
          <p:nvPr/>
        </p:nvSpPr>
        <p:spPr>
          <a:xfrm>
            <a:off x="6784848" y="1481328"/>
            <a:ext cx="320040" cy="320040"/>
          </a:xfrm>
          <a:prstGeom prst="ellipse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Text 19"/>
          <p:cNvSpPr/>
          <p:nvPr/>
        </p:nvSpPr>
        <p:spPr>
          <a:xfrm>
            <a:off x="6784848" y="1481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178040" y="141732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storage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1645920" y="2788920"/>
            <a:ext cx="1828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5" name="Shape 22"/>
          <p:cNvSpPr/>
          <p:nvPr/>
        </p:nvSpPr>
        <p:spPr>
          <a:xfrm>
            <a:off x="1755648" y="2898648"/>
            <a:ext cx="320040" cy="320040"/>
          </a:xfrm>
          <a:prstGeom prst="ellipse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Text 23"/>
          <p:cNvSpPr/>
          <p:nvPr/>
        </p:nvSpPr>
        <p:spPr>
          <a:xfrm>
            <a:off x="1755648" y="2898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2148840" y="283464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657600" y="2788920"/>
            <a:ext cx="1828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9" name="Shape 26"/>
          <p:cNvSpPr/>
          <p:nvPr/>
        </p:nvSpPr>
        <p:spPr>
          <a:xfrm>
            <a:off x="3767328" y="2898648"/>
            <a:ext cx="320040" cy="320040"/>
          </a:xfrm>
          <a:prstGeom prst="ellipse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0" name="Text 27"/>
          <p:cNvSpPr/>
          <p:nvPr/>
        </p:nvSpPr>
        <p:spPr>
          <a:xfrm>
            <a:off x="3767328" y="2898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4160520" y="283464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669280" y="2788920"/>
            <a:ext cx="182880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3" name="Shape 30"/>
          <p:cNvSpPr/>
          <p:nvPr/>
        </p:nvSpPr>
        <p:spPr>
          <a:xfrm>
            <a:off x="5779008" y="2898648"/>
            <a:ext cx="320040" cy="320040"/>
          </a:xfrm>
          <a:prstGeom prst="ellipse">
            <a:avLst/>
          </a:prstGeom>
          <a:solidFill>
            <a:srgbClr val="E8960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4" name="Text 31"/>
          <p:cNvSpPr/>
          <p:nvPr/>
        </p:nvSpPr>
        <p:spPr>
          <a:xfrm>
            <a:off x="5779008" y="2898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172200" y="2834640"/>
            <a:ext cx="1234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required cleaning steps were followed as: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40080" y="1188720"/>
            <a:ext cx="7863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50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Renaming columns for data standard names across all sources,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fields and numeric values for consistency in data types,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Removal of duplicate values,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units of measurement for energy and temperature variables,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Filtering datasets to the same time period (2014-2022) across all sources.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Main challenges found while integrating the data as: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5"/>
          <p:cNvSpPr/>
          <p:nvPr/>
        </p:nvSpPr>
        <p:spPr>
          <a:xfrm>
            <a:off x="640080" y="1051560"/>
            <a:ext cx="37947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777240" y="11430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r>
              <a:rPr lang="en-US" sz="12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Country name mismatches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77240" y="14630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"Viet Nam" vs "Vietnam", "Yemen, Rep." vs "Yemen". Then the join has failed.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discussed to solve this problem: By creating a mapping dictionary to standardize names and to avoid missing country during the merge process because a simple comma or misspelling.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709160" y="1051560"/>
            <a:ext cx="37947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Text 9"/>
          <p:cNvSpPr/>
          <p:nvPr/>
        </p:nvSpPr>
        <p:spPr>
          <a:xfrm>
            <a:off x="4846320" y="11430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r>
              <a:rPr lang="en-US" sz="12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structures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846320" y="146304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data from the world bank api required more cleaning as it did not have matching country codes while energy and temperature data had.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different merge keys as: Merging energy and temperature data, then merging with cleaned data population.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40080" y="2971800"/>
            <a:ext cx="37947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2"/>
          <p:cNvSpPr/>
          <p:nvPr/>
        </p:nvSpPr>
        <p:spPr>
          <a:xfrm>
            <a:off x="7772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r>
              <a:rPr lang="en-US" sz="12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Appearance of more duplicate values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77240" y="338328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data standardization names that was fixed by removing duplicates by using .drop_duplicates() to ensure that will be no errors while merging data.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709160" y="2971800"/>
            <a:ext cx="379476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Text 15"/>
          <p:cNvSpPr/>
          <p:nvPr/>
        </p:nvSpPr>
        <p:spPr>
          <a:xfrm>
            <a:off x="484632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r>
              <a:rPr lang="en-US" sz="12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alignment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846320" y="338328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countries in the datasets as even after fixing names, not every country were found across the dataset.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by finding common countries name across the dataset to ensure the final analysis only included complete data points.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Storing Data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40080" y="1051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was stored in two ways to ensure portability and scalability.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1417320"/>
            <a:ext cx="7863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unified dataframe: All data points were consolidated into a single Pandas Dataframe for immediate analysis.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Database (MongoDB): The cleaned data was exported to a MongoDB collection. This step allows efficient querying and storage of the country-year data as individual documents.</a:t>
            </a:r>
            <a:endParaRPr lang="en-US" sz="115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Export: A flat file named cleaned_merged_energy_population_temperature.csv was generated for easy sharing and backup.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40080" y="2880360"/>
            <a:ext cx="7863840" cy="2011680"/>
          </a:xfrm>
          <a:prstGeom prst="rect">
            <a:avLst/>
          </a:prstGeom>
          <a:solidFill>
            <a:srgbClr val="FFFFFF"/>
          </a:solidFill>
          <a:ln/>
          <a:effectLst>
            <a:outerShdw blurRad="381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822960" y="297180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6.1 The stored dataset includes: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22960" y="3337560"/>
            <a:ext cx="7498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5000"/>
              </a:lnSpc>
              <a:spcAft>
                <a:spcPts val="500"/>
              </a:spcAft>
              <a:buSzPct val="100000"/>
            </a:pPr>
            <a:r>
              <a:rPr lang="en-US" sz="1100" b="1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Identifiers: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name and Country Code,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data: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Demographics: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population,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metrics: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mean temperature and 5 years smoothed temperature.</a:t>
            </a:r>
            <a:endParaRPr lang="en-US" sz="1100" dirty="0"/>
          </a:p>
          <a:p>
            <a:pPr marL="0" indent="0">
              <a:lnSpc>
                <a:spcPct val="135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Engineered features: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Total_Energy_Proxy (calculated as Population × Energy per capita).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Insights we can get from the data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5"/>
          <p:cNvSpPr/>
          <p:nvPr/>
        </p:nvSpPr>
        <p:spPr>
          <a:xfrm>
            <a:off x="640080" y="10515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energy consumption (proxy): Population vs Energy per Capita.</a:t>
            </a:r>
            <a:endParaRPr lang="en-US" sz="1050" dirty="0"/>
          </a:p>
          <a:p>
            <a:pPr marL="0" indent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footprint was reconstructed by multiplying it by population. Data was per person. Then it was converted to Terawatt-hours (TWh) as a crucial step for interpreting data. This is used by global energy agencies.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40080" y="21945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 Bands (Binning)</a:t>
            </a:r>
            <a:endParaRPr lang="en-US" sz="1050" dirty="0"/>
          </a:p>
          <a:p>
            <a:pPr marL="0" indent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 of discretization to turn continuous temperature into categorical bands was taken. This allowed us to create comparative visualizations as example: boxplots to understand if there are differences in the energy consumption between hot and cold countries.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40080" y="342900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Smoothing</a:t>
            </a:r>
            <a:endParaRPr lang="en-US" sz="1050" dirty="0"/>
          </a:p>
          <a:p>
            <a:pPr>
              <a:lnSpc>
                <a:spcPct val="120000"/>
              </a:lnSpc>
              <a:spcAft>
                <a:spcPts val="200"/>
              </a:spcAft>
            </a:pPr>
            <a:r>
              <a:rPr lang="en-US" sz="95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used to filter out noise(</a:t>
            </a: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around) to reveal the actual climate trend.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754880" y="105156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Correlations</a:t>
            </a:r>
            <a:endParaRPr lang="en-US" sz="1050" dirty="0"/>
          </a:p>
          <a:p>
            <a:pPr marL="0" indent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vs Energy to determine if a country's energy footprint is driven by its sheer size or by the lifestyle of its citizens. Having the annual_mean and energy metrics side-by-side, we can visualize whether the highest energy consumers are also experiencing the most rapid local temperature changes.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754880" y="265176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0C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Driven: High Energy Use Flag</a:t>
            </a:r>
            <a:endParaRPr lang="en-US" sz="1050" dirty="0"/>
          </a:p>
          <a:p>
            <a:pPr marL="0" indent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an outlier detection technique to flag countries that exceed a certain threshold, making it easier to identify heavy consumers for further analysis.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 Analysis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5"/>
          <p:cNvSpPr/>
          <p:nvPr/>
        </p:nvSpPr>
        <p:spPr>
          <a:xfrm>
            <a:off x="640080" y="1188720"/>
            <a:ext cx="7863840" cy="3474720"/>
          </a:xfrm>
          <a:prstGeom prst="rect">
            <a:avLst/>
          </a:prstGeom>
          <a:solidFill>
            <a:srgbClr val="E8ECF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6"/>
          <p:cNvSpPr/>
          <p:nvPr/>
        </p:nvSpPr>
        <p:spPr>
          <a:xfrm>
            <a:off x="640080" y="22860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grabs to be added</a:t>
            </a:r>
            <a:endParaRPr lang="en-US" sz="18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0497057-3034-0D73-8187-87021E27C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1753" y="1188720"/>
            <a:ext cx="5740493" cy="34610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F88BA0-CBC0-480B-9823-61DC52D61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D5876C9-5A97-267C-BEF7-DF78D849CE04}"/>
              </a:ext>
            </a:extLst>
          </p:cNvPr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624DC09-1A5C-9327-2799-DC0102CBD4CE}"/>
              </a:ext>
            </a:extLst>
          </p:cNvPr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D960035-FBCC-4334-FC80-E7AEFD400FF0}"/>
              </a:ext>
            </a:extLst>
          </p:cNvPr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60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DEB484DC-1A73-2025-6F44-06C2E8D0F1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47832FA4-F85C-BCB9-E40A-5968AFB96F00}"/>
              </a:ext>
            </a:extLst>
          </p:cNvPr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 Analysis</a:t>
            </a:r>
            <a:endParaRPr lang="en-US" sz="2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7F825C6-FCFE-F873-1561-13B8C45A1682}"/>
              </a:ext>
            </a:extLst>
          </p:cNvPr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887F0A92-F227-D618-1E93-10B6FC13F230}"/>
              </a:ext>
            </a:extLst>
          </p:cNvPr>
          <p:cNvSpPr/>
          <p:nvPr/>
        </p:nvSpPr>
        <p:spPr>
          <a:xfrm>
            <a:off x="640080" y="1188720"/>
            <a:ext cx="7863840" cy="3474720"/>
          </a:xfrm>
          <a:prstGeom prst="rect">
            <a:avLst/>
          </a:prstGeom>
          <a:solidFill>
            <a:srgbClr val="E8ECF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1BD2A23F-A66A-B9A4-2A52-75BF28B46740}"/>
              </a:ext>
            </a:extLst>
          </p:cNvPr>
          <p:cNvSpPr/>
          <p:nvPr/>
        </p:nvSpPr>
        <p:spPr>
          <a:xfrm>
            <a:off x="640080" y="22860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grabs to be added</a:t>
            </a:r>
            <a:endParaRPr lang="en-US" sz="18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935D562-37CB-090D-D1DC-D2531BB993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9349" y="1188720"/>
            <a:ext cx="5645302" cy="3464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653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D44D06-5C9E-C64E-A8DE-A26186644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29D3607-83BB-D4A0-5F53-FFDA9A7729D0}"/>
              </a:ext>
            </a:extLst>
          </p:cNvPr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55D8F8-777B-97B5-1F36-3518F7960DE0}"/>
              </a:ext>
            </a:extLst>
          </p:cNvPr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4909C1B-2FF5-347A-5F38-C7FFB7052BF0}"/>
              </a:ext>
            </a:extLst>
          </p:cNvPr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60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2DA51790-7902-2B9F-123B-0DC0245A8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AD31F546-C523-429D-3871-AABEA8C787FE}"/>
              </a:ext>
            </a:extLst>
          </p:cNvPr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 Analysis</a:t>
            </a:r>
            <a:endParaRPr lang="en-US" sz="2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C837429-F5FD-033D-B5A6-5FBA36293622}"/>
              </a:ext>
            </a:extLst>
          </p:cNvPr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DEB30E8A-234D-061F-9EA9-874E60BB8DC8}"/>
              </a:ext>
            </a:extLst>
          </p:cNvPr>
          <p:cNvSpPr/>
          <p:nvPr/>
        </p:nvSpPr>
        <p:spPr>
          <a:xfrm>
            <a:off x="640080" y="1188720"/>
            <a:ext cx="7863840" cy="3474720"/>
          </a:xfrm>
          <a:prstGeom prst="rect">
            <a:avLst/>
          </a:prstGeom>
          <a:solidFill>
            <a:srgbClr val="E8ECF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D0B3A5D-11D1-5266-F9CD-9FC6437BC326}"/>
              </a:ext>
            </a:extLst>
          </p:cNvPr>
          <p:cNvSpPr/>
          <p:nvPr/>
        </p:nvSpPr>
        <p:spPr>
          <a:xfrm>
            <a:off x="640080" y="22860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grabs to be added</a:t>
            </a:r>
            <a:endParaRPr lang="en-US" sz="18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0E187E-3D91-5498-5BB4-C36B27E368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0889" y="1197291"/>
            <a:ext cx="4922221" cy="3457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1322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5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E75A9E-F927-4680-9A7B-EF1B1643A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372C7D3-CD77-5C2A-150C-58669347046E}"/>
              </a:ext>
            </a:extLst>
          </p:cNvPr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955BA9A-1825-A0F7-B1BE-D29CFE473FDA}"/>
              </a:ext>
            </a:extLst>
          </p:cNvPr>
          <p:cNvSpPr/>
          <p:nvPr/>
        </p:nvSpPr>
        <p:spPr>
          <a:xfrm>
            <a:off x="548640" y="228600"/>
            <a:ext cx="475488" cy="475488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ECAAC36-0859-D8F8-5678-88D6C384AA0A}"/>
              </a:ext>
            </a:extLst>
          </p:cNvPr>
          <p:cNvSpPr/>
          <p:nvPr/>
        </p:nvSpPr>
        <p:spPr>
          <a:xfrm>
            <a:off x="548640" y="228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600" dirty="0"/>
          </a:p>
        </p:txBody>
      </p:sp>
      <p:pic>
        <p:nvPicPr>
          <p:cNvPr id="5" name="Image 0" descr="preencoded.png">
            <a:extLst>
              <a:ext uri="{FF2B5EF4-FFF2-40B4-BE49-F238E27FC236}">
                <a16:creationId xmlns:a16="http://schemas.microsoft.com/office/drawing/2014/main" id="{5834662F-606F-32FB-7427-F11152DB2A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274320"/>
            <a:ext cx="365760" cy="365760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2904152E-AD66-5A6F-8306-F6B3E0D8A609}"/>
              </a:ext>
            </a:extLst>
          </p:cNvPr>
          <p:cNvSpPr/>
          <p:nvPr/>
        </p:nvSpPr>
        <p:spPr>
          <a:xfrm>
            <a:off x="1645920" y="18288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C23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 Analysis</a:t>
            </a:r>
            <a:endParaRPr lang="en-US" sz="2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303B770D-4BF0-8736-27F7-4B19E70C970A}"/>
              </a:ext>
            </a:extLst>
          </p:cNvPr>
          <p:cNvSpPr/>
          <p:nvPr/>
        </p:nvSpPr>
        <p:spPr>
          <a:xfrm>
            <a:off x="548640" y="914400"/>
            <a:ext cx="8046720" cy="1371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2F27579-2095-EBF1-4669-39FEFCA8D722}"/>
              </a:ext>
            </a:extLst>
          </p:cNvPr>
          <p:cNvSpPr/>
          <p:nvPr/>
        </p:nvSpPr>
        <p:spPr>
          <a:xfrm>
            <a:off x="640080" y="1202436"/>
            <a:ext cx="7863840" cy="3474720"/>
          </a:xfrm>
          <a:prstGeom prst="rect">
            <a:avLst/>
          </a:prstGeom>
          <a:solidFill>
            <a:srgbClr val="E8ECF1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AC9B3B5-0871-EFC2-0E18-66498291ECAC}"/>
              </a:ext>
            </a:extLst>
          </p:cNvPr>
          <p:cNvSpPr/>
          <p:nvPr/>
        </p:nvSpPr>
        <p:spPr>
          <a:xfrm>
            <a:off x="640080" y="22860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grabs to be added</a:t>
            </a:r>
            <a:endParaRPr lang="en-US" sz="18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2B67A3D-F20B-5303-ACB3-AE6A5A166D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9148" y="1202436"/>
            <a:ext cx="5905704" cy="3474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1262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887</Words>
  <Application>Microsoft Office PowerPoint</Application>
  <PresentationFormat>On-screen Show (16:9)</PresentationFormat>
  <Paragraphs>105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Juliana Santos</dc:creator>
  <cp:lastModifiedBy>A00048210 Pedro Batlouni</cp:lastModifiedBy>
  <cp:revision>6</cp:revision>
  <dcterms:created xsi:type="dcterms:W3CDTF">2026-05-04T23:23:08Z</dcterms:created>
  <dcterms:modified xsi:type="dcterms:W3CDTF">2026-06-17T22:17:28Z</dcterms:modified>
</cp:coreProperties>
</file>